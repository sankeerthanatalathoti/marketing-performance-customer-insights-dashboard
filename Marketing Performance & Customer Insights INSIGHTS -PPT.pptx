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6" d="100"/>
          <a:sy n="66" d="100"/>
        </p:scale>
        <p:origin x="9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773D0-FB65-A48E-C296-3E1BB00944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958EFF-9B12-639D-27DC-0B0400DC2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9D041E-8881-1859-70FF-4BDA9F448014}"/>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6B550814-A4EF-997E-9169-EAD23B55D7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021235-E80E-5CAC-4060-D83450A93689}"/>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3836046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57E8-EABF-4D1C-7023-A2140B4992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38EF6A-7FA3-AF34-983D-381F02D23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21DFFD-B880-A6E0-39FC-193EC497A054}"/>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03709593-ADEB-DE23-7768-2C6059C701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8B5326-1FC4-11FC-8F50-9650F116A396}"/>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1419921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99BA2-D445-2A6C-F138-9CB70B1C4C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E770BF-AAA4-CF9C-5983-140CE9F780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30E8B-2C81-8A71-883B-28089E155DA3}"/>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F9DE0041-43FF-9CBD-8BCA-42450D348E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258D65-1787-8610-F7EA-D732615425DA}"/>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2260192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2B9C-1D6B-86D7-2074-E48BDA16C3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303AAC-3605-649B-B946-BC7B4F12EF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7D6C42-3D95-A0CC-042B-DA21D33CB6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4E303D-B9A3-9E8D-A437-8C9F9159BDBB}"/>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6" name="Footer Placeholder 5">
            <a:extLst>
              <a:ext uri="{FF2B5EF4-FFF2-40B4-BE49-F238E27FC236}">
                <a16:creationId xmlns:a16="http://schemas.microsoft.com/office/drawing/2014/main" id="{62A40335-5F2C-19C7-1FFE-64E97DBFAF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B8C1D5-20BD-6953-4180-DD03B3B8A7CC}"/>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1118118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E6A0-FDAC-39E5-F4DD-03F48591E7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035B19-318C-10DA-901B-9460512D53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A42B81-3DAF-3736-67A7-41A148F542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14AC74-AA6A-42A5-9278-F4E042B59A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AA21A3-0E20-B3BC-DD11-AFF4BADBD5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C43C94-1EB8-DD69-EE4A-3F1A5472D89A}"/>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8" name="Footer Placeholder 7">
            <a:extLst>
              <a:ext uri="{FF2B5EF4-FFF2-40B4-BE49-F238E27FC236}">
                <a16:creationId xmlns:a16="http://schemas.microsoft.com/office/drawing/2014/main" id="{80645A20-1BE5-E5A8-C03E-A7B9F7F521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A16DF5-25F6-C003-8EB2-A2413305643F}"/>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3180460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9F95-AF01-D5D8-7170-6855AD3DE1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9BF094-2BAB-ED6E-2A3B-98F92CC7DC70}"/>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4" name="Footer Placeholder 3">
            <a:extLst>
              <a:ext uri="{FF2B5EF4-FFF2-40B4-BE49-F238E27FC236}">
                <a16:creationId xmlns:a16="http://schemas.microsoft.com/office/drawing/2014/main" id="{2371B5CD-D15C-1CA0-D1DF-DFC0EA61DB2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D81142-B825-DE8B-4640-2B289581BBA4}"/>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1053866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C16FFF-CB4B-B14F-39DB-91631B77C2A9}"/>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3" name="Footer Placeholder 2">
            <a:extLst>
              <a:ext uri="{FF2B5EF4-FFF2-40B4-BE49-F238E27FC236}">
                <a16:creationId xmlns:a16="http://schemas.microsoft.com/office/drawing/2014/main" id="{DC6A69F4-FA40-CC91-9265-71BCA67DAC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7D1ED9-258B-8815-EAEA-BF4EC432BA4A}"/>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2276689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95C2-4FCC-B657-BF3A-FE14101C65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96FEF5-E111-2D47-D607-BCE1C3F70C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939E61-3B02-DD4E-DB0D-DE00E151E4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BB53C-CF02-4BD2-E9B3-A2D682F2C428}"/>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6" name="Footer Placeholder 5">
            <a:extLst>
              <a:ext uri="{FF2B5EF4-FFF2-40B4-BE49-F238E27FC236}">
                <a16:creationId xmlns:a16="http://schemas.microsoft.com/office/drawing/2014/main" id="{0B14A229-1D02-5052-3920-7E05965356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7E7BAD-53E0-45E3-6519-9B44C7AD2472}"/>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295385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74F2-1048-06DF-4580-4F98D1E235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D17C8-2374-B1BD-3256-876AAD30D9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FF752E-E725-F90C-04F6-97E6EB50C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ACCDE9-5CE0-A45D-3D9F-BC89979FFF75}"/>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6" name="Footer Placeholder 5">
            <a:extLst>
              <a:ext uri="{FF2B5EF4-FFF2-40B4-BE49-F238E27FC236}">
                <a16:creationId xmlns:a16="http://schemas.microsoft.com/office/drawing/2014/main" id="{05AA91F9-D883-5328-4786-277C12C91A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8A31C6-01C9-0118-0C7A-4E58BEFBA001}"/>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928674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D098-D174-8CA9-3E36-E684F1D0DA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7A3E76-2745-C64B-C5D5-9BF56A42BF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B117F2-BC65-AEB3-06C3-CE360E4DB0C4}"/>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8DF729AE-46BF-1F3D-21B9-96FE93C0F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386A9A-F621-4204-1EF5-D2D92A4BE613}"/>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908942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1ECE46-91E8-5A60-4A74-3107362387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A93660-8FFC-2539-DF57-7378BAE5CF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42AAF8-1989-A3F1-6CC8-3D3BED096165}"/>
              </a:ext>
            </a:extLst>
          </p:cNvPr>
          <p:cNvSpPr>
            <a:spLocks noGrp="1"/>
          </p:cNvSpPr>
          <p:nvPr>
            <p:ph type="dt" sz="half" idx="10"/>
          </p:nvPr>
        </p:nvSpPr>
        <p:spPr/>
        <p:txBody>
          <a:body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2BBE1EA5-CD66-51C5-F88B-5C38ED1646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05C650-7DD0-488D-5D5F-045A3AEC5A67}"/>
              </a:ext>
            </a:extLst>
          </p:cNvPr>
          <p:cNvSpPr>
            <a:spLocks noGrp="1"/>
          </p:cNvSpPr>
          <p:nvPr>
            <p:ph type="sldNum" sz="quarter" idx="12"/>
          </p:nvPr>
        </p:nvSpPr>
        <p:spPr/>
        <p:txBody>
          <a:bodyPr/>
          <a:lstStyle/>
          <a:p>
            <a:fld id="{E06DF1CB-ECFC-4C81-92AD-75FD9CE1AD72}" type="slidenum">
              <a:rPr lang="en-IN" smtClean="0"/>
              <a:t>‹#›</a:t>
            </a:fld>
            <a:endParaRPr lang="en-IN"/>
          </a:p>
        </p:txBody>
      </p:sp>
    </p:spTree>
    <p:extLst>
      <p:ext uri="{BB962C8B-B14F-4D97-AF65-F5344CB8AC3E}">
        <p14:creationId xmlns:p14="http://schemas.microsoft.com/office/powerpoint/2010/main" val="2270195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D3A579-30ED-A02F-0925-1FE9242498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7589A7-80D0-6082-AA04-7EB2E12EC9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9010D5-F9A5-B5C7-3591-7CE4BF9165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2A700-89F9-4324-A614-BB5DF610AEB9}" type="datetimeFigureOut">
              <a:rPr lang="en-IN" smtClean="0"/>
              <a:t>16-11-2025</a:t>
            </a:fld>
            <a:endParaRPr lang="en-IN"/>
          </a:p>
        </p:txBody>
      </p:sp>
      <p:sp>
        <p:nvSpPr>
          <p:cNvPr id="5" name="Footer Placeholder 4">
            <a:extLst>
              <a:ext uri="{FF2B5EF4-FFF2-40B4-BE49-F238E27FC236}">
                <a16:creationId xmlns:a16="http://schemas.microsoft.com/office/drawing/2014/main" id="{F5419073-9391-60ED-E466-CE688F9866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C54AD8-21CE-C226-7D09-98209F457A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6DF1CB-ECFC-4C81-92AD-75FD9CE1AD72}" type="slidenum">
              <a:rPr lang="en-IN" smtClean="0"/>
              <a:t>‹#›</a:t>
            </a:fld>
            <a:endParaRPr lang="en-IN"/>
          </a:p>
        </p:txBody>
      </p:sp>
    </p:spTree>
    <p:extLst>
      <p:ext uri="{BB962C8B-B14F-4D97-AF65-F5344CB8AC3E}">
        <p14:creationId xmlns:p14="http://schemas.microsoft.com/office/powerpoint/2010/main" val="230558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54849-AF15-DB7E-2C23-2481C9EB8A17}"/>
              </a:ext>
            </a:extLst>
          </p:cNvPr>
          <p:cNvSpPr>
            <a:spLocks noGrp="1"/>
          </p:cNvSpPr>
          <p:nvPr>
            <p:ph type="ctrTitle"/>
          </p:nvPr>
        </p:nvSpPr>
        <p:spPr>
          <a:xfrm>
            <a:off x="202593" y="523662"/>
            <a:ext cx="11815235" cy="1637418"/>
          </a:xfrm>
        </p:spPr>
        <p:txBody>
          <a:bodyPr>
            <a:normAutofit fontScale="90000"/>
          </a:bodyPr>
          <a:lstStyle/>
          <a:p>
            <a:r>
              <a:rPr lang="en-US" sz="1400" b="1" dirty="0">
                <a:latin typeface="+mn-lt"/>
              </a:rPr>
              <a:t>Business Problem </a:t>
            </a:r>
            <a:br>
              <a:rPr lang="en-US" sz="1400" b="1" dirty="0">
                <a:latin typeface="+mn-lt"/>
              </a:rPr>
            </a:br>
            <a:r>
              <a:rPr lang="en-US" sz="1400" b="1" dirty="0">
                <a:latin typeface="+mn-lt"/>
              </a:rPr>
              <a:t>Shop Easy</a:t>
            </a:r>
            <a:r>
              <a:rPr lang="en-US" sz="1400" dirty="0">
                <a:latin typeface="+mn-lt"/>
              </a:rPr>
              <a:t> is experiencing </a:t>
            </a:r>
            <a:r>
              <a:rPr lang="en-US" sz="1400" b="1" dirty="0">
                <a:latin typeface="+mn-lt"/>
              </a:rPr>
              <a:t>low customer engagement</a:t>
            </a:r>
            <a:r>
              <a:rPr lang="en-US" sz="1400" dirty="0">
                <a:latin typeface="+mn-lt"/>
              </a:rPr>
              <a:t> and </a:t>
            </a:r>
            <a:r>
              <a:rPr lang="en-US" sz="1400" b="1" dirty="0">
                <a:latin typeface="+mn-lt"/>
              </a:rPr>
              <a:t>declining conversion rates</a:t>
            </a:r>
            <a:r>
              <a:rPr lang="en-US" sz="1400" dirty="0">
                <a:latin typeface="+mn-lt"/>
              </a:rPr>
              <a:t> despite running multiple marketing campaigns. Marketing spend is high, but the return is not improving, and customer feedback is not being analyzed effectively.</a:t>
            </a:r>
            <a:br>
              <a:rPr lang="en-US" sz="1400" dirty="0">
                <a:latin typeface="+mn-lt"/>
              </a:rPr>
            </a:br>
            <a:r>
              <a:rPr lang="en-US" sz="1400" b="1" dirty="0">
                <a:latin typeface="+mn-lt"/>
              </a:rPr>
              <a:t>Project Goals </a:t>
            </a:r>
            <a:br>
              <a:rPr lang="en-US" sz="1400" b="1" dirty="0">
                <a:latin typeface="+mn-lt"/>
              </a:rPr>
            </a:br>
            <a:r>
              <a:rPr lang="en-US" sz="1400" b="1" dirty="0">
                <a:latin typeface="+mn-lt"/>
              </a:rPr>
              <a:t>Improve Conversion Rates:</a:t>
            </a:r>
            <a:r>
              <a:rPr lang="en-US" sz="1400" dirty="0">
                <a:latin typeface="+mn-lt"/>
              </a:rPr>
              <a:t> Identify drop-off points and optimize the marketing funnel.</a:t>
            </a:r>
            <a:br>
              <a:rPr lang="en-US" sz="1400" dirty="0">
                <a:latin typeface="+mn-lt"/>
              </a:rPr>
            </a:br>
            <a:r>
              <a:rPr lang="en-US" sz="1400" b="1" dirty="0">
                <a:latin typeface="+mn-lt"/>
              </a:rPr>
              <a:t>Boost Customer Engagement:</a:t>
            </a:r>
            <a:r>
              <a:rPr lang="en-US" sz="1400" dirty="0">
                <a:latin typeface="+mn-lt"/>
              </a:rPr>
              <a:t> Find which content performs best and increase interaction.</a:t>
            </a:r>
            <a:br>
              <a:rPr lang="en-US" sz="1400" dirty="0">
                <a:latin typeface="+mn-lt"/>
              </a:rPr>
            </a:br>
            <a:r>
              <a:rPr lang="en-US" sz="1400" b="1" dirty="0">
                <a:latin typeface="+mn-lt"/>
              </a:rPr>
              <a:t>Leverage Customer Feedback:</a:t>
            </a:r>
            <a:r>
              <a:rPr lang="en-US" sz="1400" dirty="0">
                <a:latin typeface="+mn-lt"/>
              </a:rPr>
              <a:t> Extract insights from reviews to guide product and service improvements.</a:t>
            </a:r>
            <a:br>
              <a:rPr lang="en-US" sz="1600" dirty="0">
                <a:latin typeface="+mn-lt"/>
              </a:rPr>
            </a:br>
            <a:endParaRPr lang="en-IN" sz="1600" dirty="0">
              <a:latin typeface="+mn-lt"/>
            </a:endParaRPr>
          </a:p>
        </p:txBody>
      </p:sp>
      <p:sp>
        <p:nvSpPr>
          <p:cNvPr id="3" name="Subtitle 2">
            <a:extLst>
              <a:ext uri="{FF2B5EF4-FFF2-40B4-BE49-F238E27FC236}">
                <a16:creationId xmlns:a16="http://schemas.microsoft.com/office/drawing/2014/main" id="{05E29C05-90B2-A2B4-1209-6B7FCA589C35}"/>
              </a:ext>
            </a:extLst>
          </p:cNvPr>
          <p:cNvSpPr>
            <a:spLocks noGrp="1"/>
          </p:cNvSpPr>
          <p:nvPr>
            <p:ph type="subTitle" idx="1"/>
          </p:nvPr>
        </p:nvSpPr>
        <p:spPr>
          <a:xfrm>
            <a:off x="331722" y="2465046"/>
            <a:ext cx="4276804" cy="3705905"/>
          </a:xfrm>
        </p:spPr>
        <p:txBody>
          <a:bodyPr>
            <a:normAutofit lnSpcReduction="10000"/>
          </a:bodyPr>
          <a:lstStyle/>
          <a:p>
            <a:r>
              <a:rPr lang="en-US" sz="1300" b="1" dirty="0"/>
              <a:t>Decreased Conversion Rates </a:t>
            </a:r>
          </a:p>
          <a:p>
            <a:r>
              <a:rPr lang="en-US" sz="1300" dirty="0"/>
              <a:t>Conversion rate dipped to </a:t>
            </a:r>
            <a:r>
              <a:rPr lang="en-US" sz="1300" b="1" dirty="0"/>
              <a:t>5.0% in October</a:t>
            </a:r>
            <a:r>
              <a:rPr lang="en-US" sz="1300" dirty="0"/>
              <a:t> but recovered strongly to </a:t>
            </a:r>
            <a:r>
              <a:rPr lang="en-US" sz="1300" b="1" dirty="0"/>
              <a:t>10.2% in December</a:t>
            </a:r>
            <a:r>
              <a:rPr lang="en-US" sz="1300" dirty="0"/>
              <a:t>.</a:t>
            </a:r>
          </a:p>
          <a:p>
            <a:br>
              <a:rPr lang="en-US" sz="1300" dirty="0"/>
            </a:br>
            <a:endParaRPr lang="en-US" sz="1300" dirty="0"/>
          </a:p>
          <a:p>
            <a:r>
              <a:rPr lang="en-US" sz="1300" b="1" dirty="0"/>
              <a:t>Reduced Customer Engagement </a:t>
            </a:r>
          </a:p>
          <a:p>
            <a:r>
              <a:rPr lang="en-US" sz="1300" dirty="0"/>
              <a:t>Overall </a:t>
            </a:r>
            <a:r>
              <a:rPr lang="en-US" sz="1300" b="1" dirty="0"/>
              <a:t>views declined</a:t>
            </a:r>
            <a:r>
              <a:rPr lang="en-US" sz="1300" dirty="0"/>
              <a:t> through the year.</a:t>
            </a:r>
          </a:p>
          <a:p>
            <a:r>
              <a:rPr lang="en-US" sz="1300" b="1" dirty="0"/>
              <a:t>Clicks and likes stayed low</a:t>
            </a:r>
            <a:r>
              <a:rPr lang="en-US" sz="1300" dirty="0"/>
              <a:t>, but the </a:t>
            </a:r>
            <a:r>
              <a:rPr lang="en-US" sz="1300" b="1" dirty="0"/>
              <a:t>CTR is strong at 15.37%</a:t>
            </a:r>
            <a:r>
              <a:rPr lang="en-US" sz="1300" dirty="0"/>
              <a:t>, showing engaged users still interact well.</a:t>
            </a:r>
          </a:p>
          <a:p>
            <a:br>
              <a:rPr lang="en-US" sz="1300" dirty="0"/>
            </a:br>
            <a:endParaRPr lang="en-US" sz="1300" dirty="0"/>
          </a:p>
          <a:p>
            <a:r>
              <a:rPr lang="en-US" sz="1300" b="1" dirty="0"/>
              <a:t> Customer Feedback </a:t>
            </a:r>
          </a:p>
          <a:p>
            <a:r>
              <a:rPr lang="en-US" sz="1300" dirty="0"/>
              <a:t>Average rating stayed stable at </a:t>
            </a:r>
            <a:r>
              <a:rPr lang="en-US" sz="1300" b="1" dirty="0"/>
              <a:t>3.7</a:t>
            </a:r>
            <a:r>
              <a:rPr lang="en-US" sz="1300" dirty="0"/>
              <a:t>, but below the </a:t>
            </a:r>
            <a:r>
              <a:rPr lang="en-US" sz="1300" b="1" dirty="0"/>
              <a:t>target of 4.0</a:t>
            </a:r>
            <a:r>
              <a:rPr lang="en-US" sz="1300" dirty="0"/>
              <a:t>.</a:t>
            </a:r>
          </a:p>
          <a:p>
            <a:r>
              <a:rPr lang="en-US" sz="1300" dirty="0"/>
              <a:t>Products rated </a:t>
            </a:r>
            <a:r>
              <a:rPr lang="en-US" sz="1300" b="1" dirty="0"/>
              <a:t>below 3.5</a:t>
            </a:r>
            <a:r>
              <a:rPr lang="en-US" sz="1300" dirty="0"/>
              <a:t> need focused improvements.</a:t>
            </a:r>
          </a:p>
          <a:p>
            <a:endParaRPr lang="en-IN" dirty="0"/>
          </a:p>
        </p:txBody>
      </p:sp>
      <p:pic>
        <p:nvPicPr>
          <p:cNvPr id="7" name="Picture 6">
            <a:extLst>
              <a:ext uri="{FF2B5EF4-FFF2-40B4-BE49-F238E27FC236}">
                <a16:creationId xmlns:a16="http://schemas.microsoft.com/office/drawing/2014/main" id="{3D661DB4-C77F-F431-01FF-CE8021F016A7}"/>
              </a:ext>
            </a:extLst>
          </p:cNvPr>
          <p:cNvPicPr>
            <a:picLocks noChangeAspect="1"/>
          </p:cNvPicPr>
          <p:nvPr/>
        </p:nvPicPr>
        <p:blipFill>
          <a:blip r:embed="rId2"/>
          <a:stretch>
            <a:fillRect/>
          </a:stretch>
        </p:blipFill>
        <p:spPr>
          <a:xfrm>
            <a:off x="4746812" y="2161080"/>
            <a:ext cx="7445188" cy="4557887"/>
          </a:xfrm>
          <a:prstGeom prst="rect">
            <a:avLst/>
          </a:prstGeom>
        </p:spPr>
      </p:pic>
      <p:cxnSp>
        <p:nvCxnSpPr>
          <p:cNvPr id="9" name="Straight Arrow Connector 8">
            <a:extLst>
              <a:ext uri="{FF2B5EF4-FFF2-40B4-BE49-F238E27FC236}">
                <a16:creationId xmlns:a16="http://schemas.microsoft.com/office/drawing/2014/main" id="{108AE89D-F6B3-A73D-FBF9-54C40E7DF611}"/>
              </a:ext>
            </a:extLst>
          </p:cNvPr>
          <p:cNvCxnSpPr>
            <a:cxnSpLocks/>
          </p:cNvCxnSpPr>
          <p:nvPr/>
        </p:nvCxnSpPr>
        <p:spPr>
          <a:xfrm>
            <a:off x="6079725" y="5472953"/>
            <a:ext cx="2217110" cy="484094"/>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55432C09-3B3D-6A90-C03F-FA16A54FECE7}"/>
              </a:ext>
            </a:extLst>
          </p:cNvPr>
          <p:cNvSpPr/>
          <p:nvPr/>
        </p:nvSpPr>
        <p:spPr>
          <a:xfrm>
            <a:off x="6792686" y="2191657"/>
            <a:ext cx="1789713" cy="1237343"/>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7CE0570-ACA3-378E-5E18-CECEA5CE4159}"/>
              </a:ext>
            </a:extLst>
          </p:cNvPr>
          <p:cNvSpPr/>
          <p:nvPr/>
        </p:nvSpPr>
        <p:spPr>
          <a:xfrm>
            <a:off x="9961816" y="3585028"/>
            <a:ext cx="2230184" cy="14659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6124EDF-AAB7-7DA8-AC92-92899BCF0593}"/>
              </a:ext>
            </a:extLst>
          </p:cNvPr>
          <p:cNvSpPr txBox="1"/>
          <p:nvPr/>
        </p:nvSpPr>
        <p:spPr>
          <a:xfrm>
            <a:off x="418386" y="117127"/>
            <a:ext cx="11599442" cy="369332"/>
          </a:xfrm>
          <a:prstGeom prst="rect">
            <a:avLst/>
          </a:prstGeom>
          <a:noFill/>
        </p:spPr>
        <p:txBody>
          <a:bodyPr wrap="square">
            <a:spAutoFit/>
          </a:bodyPr>
          <a:lstStyle/>
          <a:p>
            <a:pPr algn="ctr"/>
            <a:r>
              <a:rPr lang="en-US" b="1" i="1" dirty="0">
                <a:effectLst>
                  <a:outerShdw blurRad="38100" dist="38100" dir="2700000" algn="tl">
                    <a:srgbClr val="000000">
                      <a:alpha val="43137"/>
                    </a:srgbClr>
                  </a:outerShdw>
                </a:effectLst>
              </a:rPr>
              <a:t>Business Insights from Marketing &amp; Engagement Data</a:t>
            </a:r>
            <a:endParaRPr lang="en-IN"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34376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FE0A9-7150-B743-ABD8-67C06BABE380}"/>
              </a:ext>
            </a:extLst>
          </p:cNvPr>
          <p:cNvSpPr>
            <a:spLocks noGrp="1"/>
          </p:cNvSpPr>
          <p:nvPr>
            <p:ph type="title"/>
          </p:nvPr>
        </p:nvSpPr>
        <p:spPr>
          <a:xfrm>
            <a:off x="121823" y="1264024"/>
            <a:ext cx="3847891" cy="5123330"/>
          </a:xfrm>
        </p:spPr>
        <p:txBody>
          <a:bodyPr>
            <a:normAutofit/>
          </a:bodyPr>
          <a:lstStyle/>
          <a:p>
            <a:br>
              <a:rPr lang="en-IN" sz="1200" dirty="0">
                <a:latin typeface="+mn-lt"/>
              </a:rPr>
            </a:br>
            <a:r>
              <a:rPr lang="en-IN" sz="1200" b="1" dirty="0">
                <a:latin typeface="+mn-lt"/>
              </a:rPr>
              <a:t> General Trend:</a:t>
            </a:r>
            <a:r>
              <a:rPr lang="en-IN" sz="1200" dirty="0">
                <a:latin typeface="+mn-lt"/>
              </a:rPr>
              <a:t> Overall monthly conversion rates </a:t>
            </a:r>
            <a:r>
              <a:rPr lang="en-IN" sz="1200" b="1" dirty="0">
                <a:latin typeface="+mn-lt"/>
              </a:rPr>
              <a:t>decline steadily</a:t>
            </a:r>
            <a:r>
              <a:rPr lang="en-IN" sz="1200" dirty="0">
                <a:latin typeface="+mn-lt"/>
              </a:rPr>
              <a:t> from Jan (16.5%) to Dec (9.5%).</a:t>
            </a:r>
            <a:br>
              <a:rPr lang="en-IN" sz="1200" dirty="0">
                <a:latin typeface="+mn-lt"/>
              </a:rPr>
            </a:br>
            <a:br>
              <a:rPr lang="en-IN" sz="1200" dirty="0">
                <a:latin typeface="+mn-lt"/>
              </a:rPr>
            </a:br>
            <a:r>
              <a:rPr lang="en-IN" sz="1200" b="1" dirty="0">
                <a:latin typeface="+mn-lt"/>
              </a:rPr>
              <a:t>Lowest Conversion Month:</a:t>
            </a:r>
            <a:r>
              <a:rPr lang="en-IN" sz="1200" dirty="0">
                <a:latin typeface="+mn-lt"/>
              </a:rPr>
              <a:t> </a:t>
            </a:r>
            <a:r>
              <a:rPr lang="en-IN" sz="1200" b="1" dirty="0">
                <a:latin typeface="+mn-lt"/>
              </a:rPr>
              <a:t>December</a:t>
            </a:r>
            <a:r>
              <a:rPr lang="en-IN" sz="1200" dirty="0">
                <a:latin typeface="+mn-lt"/>
              </a:rPr>
              <a:t> shows the </a:t>
            </a:r>
            <a:r>
              <a:rPr lang="en-IN" sz="1200" b="1" dirty="0">
                <a:latin typeface="+mn-lt"/>
              </a:rPr>
              <a:t>lowest total conversion</a:t>
            </a:r>
            <a:r>
              <a:rPr lang="en-IN" sz="1200" dirty="0">
                <a:latin typeface="+mn-lt"/>
              </a:rPr>
              <a:t> across all products (9.5%).</a:t>
            </a:r>
            <a:br>
              <a:rPr lang="en-IN" sz="1200" dirty="0">
                <a:latin typeface="+mn-lt"/>
              </a:rPr>
            </a:br>
            <a:br>
              <a:rPr lang="en-IN" sz="1200" dirty="0">
                <a:latin typeface="+mn-lt"/>
              </a:rPr>
            </a:br>
            <a:r>
              <a:rPr lang="en-IN" sz="1200" b="1" dirty="0">
                <a:latin typeface="+mn-lt"/>
              </a:rPr>
              <a:t>Highest Conversion Month:</a:t>
            </a:r>
            <a:r>
              <a:rPr lang="en-IN" sz="1200" dirty="0">
                <a:latin typeface="+mn-lt"/>
              </a:rPr>
              <a:t> </a:t>
            </a:r>
            <a:r>
              <a:rPr lang="en-IN" sz="1200" b="1" dirty="0">
                <a:latin typeface="+mn-lt"/>
              </a:rPr>
              <a:t>January</a:t>
            </a:r>
            <a:r>
              <a:rPr lang="en-IN" sz="1200" dirty="0">
                <a:latin typeface="+mn-lt"/>
              </a:rPr>
              <a:t> leads with the </a:t>
            </a:r>
            <a:r>
              <a:rPr lang="en-IN" sz="1200" b="1" dirty="0">
                <a:latin typeface="+mn-lt"/>
              </a:rPr>
              <a:t>highest total conversion</a:t>
            </a:r>
            <a:r>
              <a:rPr lang="en-IN" sz="1200" dirty="0">
                <a:latin typeface="+mn-lt"/>
              </a:rPr>
              <a:t> (16.5%).</a:t>
            </a:r>
            <a:br>
              <a:rPr lang="en-IN" sz="1200" dirty="0">
                <a:latin typeface="+mn-lt"/>
              </a:rPr>
            </a:br>
            <a:br>
              <a:rPr lang="en-IN" sz="1200" dirty="0">
                <a:latin typeface="+mn-lt"/>
              </a:rPr>
            </a:br>
            <a:r>
              <a:rPr lang="en-IN" sz="1200" b="1" dirty="0">
                <a:latin typeface="+mn-lt"/>
              </a:rPr>
              <a:t>Most Consistent Product:</a:t>
            </a:r>
            <a:r>
              <a:rPr lang="en-IN" sz="1200" dirty="0">
                <a:latin typeface="+mn-lt"/>
              </a:rPr>
              <a:t> </a:t>
            </a:r>
            <a:r>
              <a:rPr lang="en-IN" sz="1200" b="1" dirty="0">
                <a:latin typeface="+mn-lt"/>
              </a:rPr>
              <a:t>Baseball Glove</a:t>
            </a:r>
            <a:r>
              <a:rPr lang="en-IN" sz="1200" dirty="0">
                <a:latin typeface="+mn-lt"/>
              </a:rPr>
              <a:t> holds a </a:t>
            </a:r>
            <a:r>
              <a:rPr lang="en-IN" sz="1200" b="1" dirty="0">
                <a:latin typeface="+mn-lt"/>
              </a:rPr>
              <a:t>steady 22.2%</a:t>
            </a:r>
            <a:r>
              <a:rPr lang="en-IN" sz="1200" dirty="0">
                <a:latin typeface="+mn-lt"/>
              </a:rPr>
              <a:t> conversion across all months.</a:t>
            </a:r>
            <a:br>
              <a:rPr lang="en-IN" sz="1200" dirty="0">
                <a:latin typeface="+mn-lt"/>
              </a:rPr>
            </a:br>
            <a:br>
              <a:rPr lang="en-IN" sz="1200" dirty="0">
                <a:latin typeface="+mn-lt"/>
              </a:rPr>
            </a:br>
            <a:r>
              <a:rPr lang="en-IN" sz="1200" b="1" dirty="0">
                <a:latin typeface="+mn-lt"/>
              </a:rPr>
              <a:t>Steepest Decline:</a:t>
            </a:r>
            <a:r>
              <a:rPr lang="en-IN" sz="1200" dirty="0">
                <a:latin typeface="+mn-lt"/>
              </a:rPr>
              <a:t> </a:t>
            </a:r>
            <a:r>
              <a:rPr lang="en-IN" sz="1200" b="1" dirty="0">
                <a:latin typeface="+mn-lt"/>
              </a:rPr>
              <a:t>Cycling Helmet &amp; Surfboard</a:t>
            </a:r>
            <a:r>
              <a:rPr lang="en-IN" sz="1200" dirty="0">
                <a:latin typeface="+mn-lt"/>
              </a:rPr>
              <a:t> drop from </a:t>
            </a:r>
            <a:r>
              <a:rPr lang="en-IN" sz="1200" b="1" dirty="0">
                <a:latin typeface="+mn-lt"/>
              </a:rPr>
              <a:t>33.3% in Jan</a:t>
            </a:r>
            <a:r>
              <a:rPr lang="en-IN" sz="1200" dirty="0">
                <a:latin typeface="+mn-lt"/>
              </a:rPr>
              <a:t> to </a:t>
            </a:r>
            <a:r>
              <a:rPr lang="en-IN" sz="1200" b="1" dirty="0">
                <a:latin typeface="+mn-lt"/>
              </a:rPr>
              <a:t>11% in Dec</a:t>
            </a:r>
            <a:r>
              <a:rPr lang="en-IN" sz="1200" dirty="0">
                <a:latin typeface="+mn-lt"/>
              </a:rPr>
              <a:t>.</a:t>
            </a:r>
            <a:br>
              <a:rPr lang="en-IN" sz="1200" dirty="0">
                <a:latin typeface="+mn-lt"/>
              </a:rPr>
            </a:br>
            <a:br>
              <a:rPr lang="en-IN" sz="1200" dirty="0">
                <a:latin typeface="+mn-lt"/>
              </a:rPr>
            </a:br>
            <a:r>
              <a:rPr lang="en-IN" sz="1200" b="1" dirty="0">
                <a:latin typeface="+mn-lt"/>
              </a:rPr>
              <a:t>Flat Performers:</a:t>
            </a:r>
            <a:r>
              <a:rPr lang="en-IN" sz="1200" dirty="0">
                <a:latin typeface="+mn-lt"/>
              </a:rPr>
              <a:t> Products like </a:t>
            </a:r>
            <a:r>
              <a:rPr lang="en-IN" sz="1200" b="1" dirty="0">
                <a:latin typeface="+mn-lt"/>
              </a:rPr>
              <a:t>Yoga Mat, Climbing Rope, Ice Skates, Kayak, Tennis Racket, Golf Clubs, Fitness Tracker</a:t>
            </a:r>
            <a:r>
              <a:rPr lang="en-IN" sz="1200" dirty="0">
                <a:latin typeface="+mn-lt"/>
              </a:rPr>
              <a:t> stay</a:t>
            </a:r>
            <a:br>
              <a:rPr lang="en-IN" sz="1200" dirty="0">
                <a:latin typeface="+mn-lt"/>
              </a:rPr>
            </a:br>
            <a:br>
              <a:rPr lang="en-IN" sz="1200" dirty="0">
                <a:latin typeface="+mn-lt"/>
              </a:rPr>
            </a:br>
            <a:r>
              <a:rPr lang="en-IN" sz="1200" b="1" dirty="0">
                <a:latin typeface="+mn-lt"/>
              </a:rPr>
              <a:t>High-Impact Products (Jan–Mar):</a:t>
            </a:r>
            <a:r>
              <a:rPr lang="en-IN" sz="1200" dirty="0">
                <a:latin typeface="+mn-lt"/>
              </a:rPr>
              <a:t> </a:t>
            </a:r>
            <a:r>
              <a:rPr lang="en-IN" sz="1200" b="1" dirty="0">
                <a:latin typeface="+mn-lt"/>
              </a:rPr>
              <a:t> Football Helmet</a:t>
            </a:r>
            <a:r>
              <a:rPr lang="en-IN" sz="1200" dirty="0">
                <a:latin typeface="+mn-lt"/>
              </a:rPr>
              <a:t> peak early (up to 28.6%) then decline to 12.5%.</a:t>
            </a:r>
            <a:br>
              <a:rPr lang="en-IN" sz="1200" dirty="0">
                <a:latin typeface="+mn-lt"/>
              </a:rPr>
            </a:br>
            <a:br>
              <a:rPr lang="en-IN" sz="1200" dirty="0">
                <a:latin typeface="+mn-lt"/>
              </a:rPr>
            </a:br>
            <a:r>
              <a:rPr lang="en-IN" sz="1200" b="1" dirty="0">
                <a:latin typeface="+mn-lt"/>
              </a:rPr>
              <a:t>Stable High Performers:</a:t>
            </a:r>
            <a:r>
              <a:rPr lang="en-IN" sz="1200" dirty="0">
                <a:latin typeface="+mn-lt"/>
              </a:rPr>
              <a:t> </a:t>
            </a:r>
            <a:r>
              <a:rPr lang="en-IN" sz="1200" b="1" dirty="0" err="1">
                <a:latin typeface="+mn-lt"/>
              </a:rPr>
              <a:t>Basketball,Hockey</a:t>
            </a:r>
            <a:r>
              <a:rPr lang="en-IN" sz="1200" b="1" dirty="0">
                <a:latin typeface="+mn-lt"/>
              </a:rPr>
              <a:t> stick ski boots are   </a:t>
            </a:r>
            <a:r>
              <a:rPr lang="en-IN" sz="1200" dirty="0">
                <a:latin typeface="+mn-lt"/>
              </a:rPr>
              <a:t>monthly—top-tier consistency.</a:t>
            </a:r>
            <a:br>
              <a:rPr lang="en-IN" sz="1200" dirty="0">
                <a:latin typeface="+mn-lt"/>
              </a:rPr>
            </a:br>
            <a:br>
              <a:rPr lang="en-IN" sz="1200" dirty="0">
                <a:latin typeface="+mn-lt"/>
              </a:rPr>
            </a:br>
            <a:endParaRPr lang="en-IN" sz="1200" dirty="0">
              <a:latin typeface="+mn-lt"/>
            </a:endParaRPr>
          </a:p>
        </p:txBody>
      </p:sp>
      <p:pic>
        <p:nvPicPr>
          <p:cNvPr id="5" name="Picture 4">
            <a:extLst>
              <a:ext uri="{FF2B5EF4-FFF2-40B4-BE49-F238E27FC236}">
                <a16:creationId xmlns:a16="http://schemas.microsoft.com/office/drawing/2014/main" id="{C45AB333-A38A-E12D-27B3-60DDAE7E1F22}"/>
              </a:ext>
            </a:extLst>
          </p:cNvPr>
          <p:cNvPicPr>
            <a:picLocks noChangeAspect="1"/>
          </p:cNvPicPr>
          <p:nvPr/>
        </p:nvPicPr>
        <p:blipFill>
          <a:blip r:embed="rId2"/>
          <a:stretch>
            <a:fillRect/>
          </a:stretch>
        </p:blipFill>
        <p:spPr>
          <a:xfrm>
            <a:off x="3969714" y="847166"/>
            <a:ext cx="8097268" cy="5414032"/>
          </a:xfrm>
          <a:prstGeom prst="rect">
            <a:avLst/>
          </a:prstGeom>
        </p:spPr>
      </p:pic>
      <p:sp>
        <p:nvSpPr>
          <p:cNvPr id="8" name="Rectangle 7">
            <a:extLst>
              <a:ext uri="{FF2B5EF4-FFF2-40B4-BE49-F238E27FC236}">
                <a16:creationId xmlns:a16="http://schemas.microsoft.com/office/drawing/2014/main" id="{F340951E-D0BC-6263-C67F-FE8319698A47}"/>
              </a:ext>
            </a:extLst>
          </p:cNvPr>
          <p:cNvSpPr/>
          <p:nvPr/>
        </p:nvSpPr>
        <p:spPr>
          <a:xfrm>
            <a:off x="4948518" y="2810435"/>
            <a:ext cx="537882" cy="3391841"/>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118868DF-B362-BEB9-977F-71A4A3420CB2}"/>
              </a:ext>
            </a:extLst>
          </p:cNvPr>
          <p:cNvSpPr/>
          <p:nvPr/>
        </p:nvSpPr>
        <p:spPr>
          <a:xfrm>
            <a:off x="9605683" y="2918012"/>
            <a:ext cx="537882" cy="32842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9D76AA6-53DB-4A15-FCFB-42E8927288A0}"/>
              </a:ext>
            </a:extLst>
          </p:cNvPr>
          <p:cNvSpPr txBox="1"/>
          <p:nvPr/>
        </p:nvSpPr>
        <p:spPr>
          <a:xfrm>
            <a:off x="121823" y="596803"/>
            <a:ext cx="4208130" cy="369332"/>
          </a:xfrm>
          <a:prstGeom prst="rect">
            <a:avLst/>
          </a:prstGeom>
          <a:noFill/>
        </p:spPr>
        <p:txBody>
          <a:bodyPr wrap="square">
            <a:spAutoFit/>
          </a:bodyPr>
          <a:lstStyle/>
          <a:p>
            <a:r>
              <a:rPr lang="en-IN" sz="1800" b="1" dirty="0">
                <a:latin typeface="+mn-lt"/>
              </a:rPr>
              <a:t>Conversion Insights (Matrix Table):</a:t>
            </a:r>
            <a:endParaRPr lang="en-IN" dirty="0"/>
          </a:p>
        </p:txBody>
      </p:sp>
    </p:spTree>
    <p:extLst>
      <p:ext uri="{BB962C8B-B14F-4D97-AF65-F5344CB8AC3E}">
        <p14:creationId xmlns:p14="http://schemas.microsoft.com/office/powerpoint/2010/main" val="284913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765F-03D9-D612-BB47-E850824BC2FB}"/>
              </a:ext>
            </a:extLst>
          </p:cNvPr>
          <p:cNvSpPr>
            <a:spLocks noGrp="1"/>
          </p:cNvSpPr>
          <p:nvPr>
            <p:ph type="title"/>
          </p:nvPr>
        </p:nvSpPr>
        <p:spPr>
          <a:xfrm>
            <a:off x="354106" y="221144"/>
            <a:ext cx="5118847" cy="512453"/>
          </a:xfrm>
        </p:spPr>
        <p:txBody>
          <a:bodyPr>
            <a:normAutofit/>
          </a:bodyPr>
          <a:lstStyle/>
          <a:p>
            <a:r>
              <a:rPr lang="en-US" sz="1800" b="1" dirty="0">
                <a:latin typeface="+mn-lt"/>
              </a:rPr>
              <a:t>Social Media Performance Summary: </a:t>
            </a:r>
            <a:endParaRPr lang="en-IN" sz="1800" b="1" dirty="0">
              <a:latin typeface="+mn-lt"/>
            </a:endParaRPr>
          </a:p>
        </p:txBody>
      </p:sp>
      <p:sp>
        <p:nvSpPr>
          <p:cNvPr id="5" name="TextBox 4">
            <a:extLst>
              <a:ext uri="{FF2B5EF4-FFF2-40B4-BE49-F238E27FC236}">
                <a16:creationId xmlns:a16="http://schemas.microsoft.com/office/drawing/2014/main" id="{0D971FDB-5869-1C23-E2EE-CE6F9BE87518}"/>
              </a:ext>
            </a:extLst>
          </p:cNvPr>
          <p:cNvSpPr txBox="1"/>
          <p:nvPr/>
        </p:nvSpPr>
        <p:spPr>
          <a:xfrm>
            <a:off x="150616" y="733893"/>
            <a:ext cx="4114800" cy="5478423"/>
          </a:xfrm>
          <a:prstGeom prst="rect">
            <a:avLst/>
          </a:prstGeom>
          <a:noFill/>
        </p:spPr>
        <p:txBody>
          <a:bodyPr wrap="square">
            <a:spAutoFit/>
          </a:bodyPr>
          <a:lstStyle/>
          <a:p>
            <a:pPr>
              <a:buNone/>
            </a:pPr>
            <a:r>
              <a:rPr lang="en-US" sz="1400" b="1" dirty="0"/>
              <a:t>View Decline </a:t>
            </a:r>
            <a:endParaRPr lang="en-US" sz="1400" dirty="0"/>
          </a:p>
          <a:p>
            <a:pPr>
              <a:buNone/>
            </a:pPr>
            <a:r>
              <a:rPr lang="en-US" sz="1400" dirty="0"/>
              <a:t>Views peaked in </a:t>
            </a:r>
            <a:r>
              <a:rPr lang="en-US" sz="1400" b="1" dirty="0"/>
              <a:t>February and July</a:t>
            </a:r>
            <a:r>
              <a:rPr lang="en-US" sz="1400" dirty="0"/>
              <a:t>, but dropped consistently from </a:t>
            </a:r>
            <a:r>
              <a:rPr lang="en-US" sz="1400" b="1" dirty="0"/>
              <a:t>August to December</a:t>
            </a:r>
            <a:r>
              <a:rPr lang="en-US" sz="1400" dirty="0"/>
              <a:t>, indicating reduced audience engagement in the latter half of the year.</a:t>
            </a:r>
          </a:p>
          <a:p>
            <a:pPr>
              <a:buNone/>
            </a:pPr>
            <a:endParaRPr lang="en-US" sz="1400" b="1" dirty="0"/>
          </a:p>
          <a:p>
            <a:pPr>
              <a:buNone/>
            </a:pPr>
            <a:r>
              <a:rPr lang="en-US" sz="1400" b="1" dirty="0"/>
              <a:t>Low Conversion Efficiency</a:t>
            </a:r>
            <a:endParaRPr lang="en-US" sz="1400" dirty="0"/>
          </a:p>
          <a:p>
            <a:pPr>
              <a:buNone/>
            </a:pPr>
            <a:r>
              <a:rPr lang="en-US" sz="1400" dirty="0"/>
              <a:t>Despite high view counts (</a:t>
            </a:r>
            <a:r>
              <a:rPr lang="en-US" sz="1400" b="1" dirty="0"/>
              <a:t>9M+</a:t>
            </a:r>
            <a:r>
              <a:rPr lang="en-US" sz="1400" dirty="0"/>
              <a:t>), </a:t>
            </a:r>
            <a:r>
              <a:rPr lang="en-US" sz="1400" b="1" dirty="0"/>
              <a:t>clicks (414K)</a:t>
            </a:r>
            <a:r>
              <a:rPr lang="en-US" sz="1400" dirty="0"/>
              <a:t> and </a:t>
            </a:r>
            <a:r>
              <a:rPr lang="en-US" sz="1400" b="1" dirty="0"/>
              <a:t>likes (1.78M)</a:t>
            </a:r>
            <a:r>
              <a:rPr lang="en-US" sz="1400" dirty="0"/>
              <a:t> remained proportionally low—suggesting weak content conversion and engagement.</a:t>
            </a:r>
          </a:p>
          <a:p>
            <a:pPr>
              <a:buNone/>
            </a:pPr>
            <a:endParaRPr lang="en-US" sz="1400" b="1" dirty="0"/>
          </a:p>
          <a:p>
            <a:pPr>
              <a:buNone/>
            </a:pPr>
            <a:r>
              <a:rPr lang="en-US" sz="1400" b="1" dirty="0"/>
              <a:t>Content Type Impact</a:t>
            </a:r>
            <a:endParaRPr lang="en-US" sz="1400" dirty="0"/>
          </a:p>
          <a:p>
            <a:pPr>
              <a:buNone/>
            </a:pPr>
            <a:r>
              <a:rPr lang="en-US" sz="1400" b="1" dirty="0"/>
              <a:t>Commercial content</a:t>
            </a:r>
            <a:r>
              <a:rPr lang="en-US" sz="1400" dirty="0"/>
              <a:t> performed best in </a:t>
            </a:r>
            <a:r>
              <a:rPr lang="en-US" sz="1400" b="1" dirty="0"/>
              <a:t>April and July</a:t>
            </a:r>
            <a:r>
              <a:rPr lang="en-US" sz="1400" dirty="0"/>
              <a:t>, while </a:t>
            </a:r>
            <a:r>
              <a:rPr lang="en-US" sz="1400" b="1" dirty="0"/>
              <a:t>Educational and Entertainment</a:t>
            </a:r>
            <a:r>
              <a:rPr lang="en-US" sz="1400" dirty="0"/>
              <a:t> formats showed steady but lower traction.</a:t>
            </a:r>
          </a:p>
          <a:p>
            <a:pPr>
              <a:buNone/>
            </a:pPr>
            <a:endParaRPr lang="en-US" sz="1400" b="1" dirty="0"/>
          </a:p>
          <a:p>
            <a:pPr>
              <a:buNone/>
            </a:pPr>
            <a:r>
              <a:rPr lang="en-US" sz="1400" b="1" dirty="0"/>
              <a:t>December Paradox</a:t>
            </a:r>
            <a:endParaRPr lang="en-US" sz="1400" dirty="0"/>
          </a:p>
          <a:p>
            <a:pPr>
              <a:buNone/>
            </a:pPr>
            <a:r>
              <a:rPr lang="en-US" sz="1400" b="1" dirty="0"/>
              <a:t>December</a:t>
            </a:r>
            <a:r>
              <a:rPr lang="en-US" sz="1400" dirty="0"/>
              <a:t> had the </a:t>
            </a:r>
            <a:r>
              <a:rPr lang="en-US" sz="1400" b="1" dirty="0"/>
              <a:t>lowest views (227K)</a:t>
            </a:r>
            <a:r>
              <a:rPr lang="en-US" sz="1400" dirty="0"/>
              <a:t> but the </a:t>
            </a:r>
            <a:r>
              <a:rPr lang="en-US" sz="1400" b="1" dirty="0"/>
              <a:t>highest likes (180K)</a:t>
            </a:r>
            <a:r>
              <a:rPr lang="en-US" sz="1400" dirty="0"/>
              <a:t> and </a:t>
            </a:r>
            <a:r>
              <a:rPr lang="en-US" sz="1400" b="1" dirty="0"/>
              <a:t>clicks (42K)</a:t>
            </a:r>
            <a:r>
              <a:rPr lang="en-US" sz="1400" dirty="0"/>
              <a:t>—indicating quality content despite lower reach.</a:t>
            </a:r>
          </a:p>
          <a:p>
            <a:pPr>
              <a:buNone/>
            </a:pPr>
            <a:endParaRPr lang="en-US" sz="1400" b="1" dirty="0"/>
          </a:p>
          <a:p>
            <a:pPr>
              <a:buNone/>
            </a:pPr>
            <a:r>
              <a:rPr lang="en-US" sz="1400" b="1" dirty="0"/>
              <a:t>Product Consistency</a:t>
            </a:r>
            <a:endParaRPr lang="en-US" sz="1400" dirty="0"/>
          </a:p>
          <a:p>
            <a:pPr>
              <a:buNone/>
            </a:pPr>
            <a:r>
              <a:rPr lang="en-US" sz="1400" dirty="0"/>
              <a:t>Products like </a:t>
            </a:r>
            <a:r>
              <a:rPr lang="en-US" sz="1400" b="1" dirty="0"/>
              <a:t>Basketball, Boxing Gloves, and Cycling Helmet</a:t>
            </a:r>
            <a:r>
              <a:rPr lang="en-US" sz="1400" dirty="0"/>
              <a:t> maintained strong engagement across months—ideal for retargeting strategies.</a:t>
            </a:r>
          </a:p>
        </p:txBody>
      </p:sp>
      <p:pic>
        <p:nvPicPr>
          <p:cNvPr id="7" name="Picture 6">
            <a:extLst>
              <a:ext uri="{FF2B5EF4-FFF2-40B4-BE49-F238E27FC236}">
                <a16:creationId xmlns:a16="http://schemas.microsoft.com/office/drawing/2014/main" id="{E30643AA-2CB4-B880-30A2-1910FEAD9F5B}"/>
              </a:ext>
            </a:extLst>
          </p:cNvPr>
          <p:cNvPicPr>
            <a:picLocks noChangeAspect="1"/>
          </p:cNvPicPr>
          <p:nvPr/>
        </p:nvPicPr>
        <p:blipFill>
          <a:blip r:embed="rId2"/>
          <a:stretch>
            <a:fillRect/>
          </a:stretch>
        </p:blipFill>
        <p:spPr>
          <a:xfrm>
            <a:off x="4213953" y="1042654"/>
            <a:ext cx="7762118" cy="4860605"/>
          </a:xfrm>
          <a:prstGeom prst="rect">
            <a:avLst/>
          </a:prstGeom>
        </p:spPr>
      </p:pic>
      <p:sp>
        <p:nvSpPr>
          <p:cNvPr id="10" name="Rectangle 9">
            <a:extLst>
              <a:ext uri="{FF2B5EF4-FFF2-40B4-BE49-F238E27FC236}">
                <a16:creationId xmlns:a16="http://schemas.microsoft.com/office/drawing/2014/main" id="{AE7CBE4B-4F78-B713-86D2-B07C32F6D765}"/>
              </a:ext>
            </a:extLst>
          </p:cNvPr>
          <p:cNvSpPr/>
          <p:nvPr/>
        </p:nvSpPr>
        <p:spPr>
          <a:xfrm>
            <a:off x="7207624" y="1465729"/>
            <a:ext cx="1667435" cy="149262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AD51C949-D8E1-0036-CED5-0268DBAAF792}"/>
              </a:ext>
            </a:extLst>
          </p:cNvPr>
          <p:cNvSpPr/>
          <p:nvPr/>
        </p:nvSpPr>
        <p:spPr>
          <a:xfrm>
            <a:off x="5262282" y="3164541"/>
            <a:ext cx="3854824" cy="27387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9315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DA07-46B2-1F97-60EA-0469DBF5B4A8}"/>
              </a:ext>
            </a:extLst>
          </p:cNvPr>
          <p:cNvSpPr>
            <a:spLocks noGrp="1"/>
          </p:cNvSpPr>
          <p:nvPr>
            <p:ph type="title"/>
          </p:nvPr>
        </p:nvSpPr>
        <p:spPr>
          <a:xfrm>
            <a:off x="838200" y="365125"/>
            <a:ext cx="3558988" cy="777875"/>
          </a:xfrm>
        </p:spPr>
        <p:txBody>
          <a:bodyPr>
            <a:normAutofit/>
          </a:bodyPr>
          <a:lstStyle/>
          <a:p>
            <a:r>
              <a:rPr lang="en-US" sz="1800" b="1" dirty="0">
                <a:latin typeface="+mn-lt"/>
              </a:rPr>
              <a:t>Goals &amp; Actions Summary:</a:t>
            </a:r>
            <a:endParaRPr lang="en-IN" sz="1800" b="1" dirty="0">
              <a:latin typeface="+mn-lt"/>
            </a:endParaRPr>
          </a:p>
        </p:txBody>
      </p:sp>
      <p:sp>
        <p:nvSpPr>
          <p:cNvPr id="5" name="TextBox 4">
            <a:extLst>
              <a:ext uri="{FF2B5EF4-FFF2-40B4-BE49-F238E27FC236}">
                <a16:creationId xmlns:a16="http://schemas.microsoft.com/office/drawing/2014/main" id="{865EE767-EAF6-E511-70A5-16900F976CAA}"/>
              </a:ext>
            </a:extLst>
          </p:cNvPr>
          <p:cNvSpPr txBox="1"/>
          <p:nvPr/>
        </p:nvSpPr>
        <p:spPr>
          <a:xfrm>
            <a:off x="252133" y="989110"/>
            <a:ext cx="10223126" cy="1292662"/>
          </a:xfrm>
          <a:prstGeom prst="rect">
            <a:avLst/>
          </a:prstGeom>
          <a:noFill/>
        </p:spPr>
        <p:txBody>
          <a:bodyPr wrap="square">
            <a:spAutoFit/>
          </a:bodyPr>
          <a:lstStyle/>
          <a:p>
            <a:pPr algn="ctr">
              <a:buNone/>
            </a:pPr>
            <a:r>
              <a:rPr lang="en-US" dirty="0"/>
              <a:t>Goal 1: Increase Conversion Rates</a:t>
            </a:r>
          </a:p>
          <a:p>
            <a:pPr algn="ctr">
              <a:buNone/>
            </a:pPr>
            <a:endParaRPr lang="en-US" dirty="0"/>
          </a:p>
          <a:p>
            <a:pPr>
              <a:buNone/>
            </a:pPr>
            <a:r>
              <a:rPr lang="en-US" sz="1400" b="1" dirty="0"/>
              <a:t>Objective:</a:t>
            </a:r>
            <a:r>
              <a:rPr lang="en-US" sz="1400" dirty="0"/>
              <a:t> Identify drop-off points and optimize the conversion funnel.</a:t>
            </a:r>
            <a:br>
              <a:rPr lang="en-US" sz="1400" dirty="0"/>
            </a:br>
            <a:r>
              <a:rPr lang="en-US" sz="1400" b="1" dirty="0"/>
              <a:t>Action:  </a:t>
            </a:r>
            <a:r>
              <a:rPr lang="en-US" sz="1400" dirty="0"/>
              <a:t>Focus on high-converting products like </a:t>
            </a:r>
            <a:r>
              <a:rPr lang="en-US" sz="1400" b="1" dirty="0"/>
              <a:t>Kayaks, Ski Boots, Baseball Gloves</a:t>
            </a:r>
            <a:r>
              <a:rPr lang="en-US" sz="1400" dirty="0"/>
              <a:t>.</a:t>
            </a:r>
          </a:p>
          <a:p>
            <a:pPr lvl="1"/>
            <a:r>
              <a:rPr lang="en-US" sz="1400" dirty="0"/>
              <a:t>  Launch </a:t>
            </a:r>
            <a:r>
              <a:rPr lang="en-US" sz="1400" b="1" dirty="0"/>
              <a:t>seasonal promotions</a:t>
            </a:r>
            <a:r>
              <a:rPr lang="en-US" sz="1400" dirty="0"/>
              <a:t> and </a:t>
            </a:r>
            <a:r>
              <a:rPr lang="en-US" sz="1400" b="1" dirty="0"/>
              <a:t>personalized campaigns</a:t>
            </a:r>
            <a:r>
              <a:rPr lang="en-US" sz="1400" dirty="0"/>
              <a:t> during peak months (e.g., </a:t>
            </a:r>
            <a:r>
              <a:rPr lang="en-US" sz="1400" b="1" dirty="0"/>
              <a:t>January, September</a:t>
            </a:r>
            <a:r>
              <a:rPr lang="en-US" sz="1400" dirty="0"/>
              <a:t>).</a:t>
            </a:r>
          </a:p>
        </p:txBody>
      </p:sp>
      <p:sp>
        <p:nvSpPr>
          <p:cNvPr id="7" name="TextBox 6">
            <a:extLst>
              <a:ext uri="{FF2B5EF4-FFF2-40B4-BE49-F238E27FC236}">
                <a16:creationId xmlns:a16="http://schemas.microsoft.com/office/drawing/2014/main" id="{B35596B9-52E1-9613-F013-037098FE3B1B}"/>
              </a:ext>
            </a:extLst>
          </p:cNvPr>
          <p:cNvSpPr txBox="1"/>
          <p:nvPr/>
        </p:nvSpPr>
        <p:spPr>
          <a:xfrm>
            <a:off x="252133" y="2567225"/>
            <a:ext cx="10693773" cy="1292662"/>
          </a:xfrm>
          <a:prstGeom prst="rect">
            <a:avLst/>
          </a:prstGeom>
          <a:noFill/>
        </p:spPr>
        <p:txBody>
          <a:bodyPr wrap="square">
            <a:spAutoFit/>
          </a:bodyPr>
          <a:lstStyle/>
          <a:p>
            <a:pPr algn="ctr">
              <a:buNone/>
            </a:pPr>
            <a:r>
              <a:rPr lang="en-IN" dirty="0"/>
              <a:t>Goal 2: Enhance Customer Engagement</a:t>
            </a:r>
          </a:p>
          <a:p>
            <a:pPr algn="ctr">
              <a:buNone/>
            </a:pPr>
            <a:endParaRPr lang="en-IN" dirty="0"/>
          </a:p>
          <a:p>
            <a:pPr>
              <a:buNone/>
            </a:pPr>
            <a:r>
              <a:rPr lang="en-IN" sz="1400" b="1" dirty="0"/>
              <a:t>Objective:</a:t>
            </a:r>
            <a:r>
              <a:rPr lang="en-IN" sz="1400" dirty="0"/>
              <a:t> Discover which content types drive the most interaction.</a:t>
            </a:r>
            <a:br>
              <a:rPr lang="en-IN" sz="1400" dirty="0"/>
            </a:br>
            <a:r>
              <a:rPr lang="en-IN" sz="1400" b="1" dirty="0"/>
              <a:t>Action:  </a:t>
            </a:r>
            <a:r>
              <a:rPr lang="en-IN" sz="1400" dirty="0"/>
              <a:t>Refresh strategy with </a:t>
            </a:r>
            <a:r>
              <a:rPr lang="en-IN" sz="1400" b="1" dirty="0"/>
              <a:t>interactive videos</a:t>
            </a:r>
            <a:r>
              <a:rPr lang="en-IN" sz="1400" dirty="0"/>
              <a:t> and </a:t>
            </a:r>
            <a:r>
              <a:rPr lang="en-IN" sz="1400" b="1" dirty="0"/>
              <a:t>user-generated content</a:t>
            </a:r>
            <a:r>
              <a:rPr lang="en-IN" sz="1400" dirty="0"/>
              <a:t>.</a:t>
            </a:r>
          </a:p>
          <a:p>
            <a:pPr lvl="1"/>
            <a:r>
              <a:rPr lang="en-IN" sz="1400" dirty="0"/>
              <a:t>  Improve </a:t>
            </a:r>
            <a:r>
              <a:rPr lang="en-IN" sz="1400" b="1" dirty="0"/>
              <a:t>CTA placement</a:t>
            </a:r>
            <a:r>
              <a:rPr lang="en-IN" sz="1400" dirty="0"/>
              <a:t> in blogs and social media, especially during </a:t>
            </a:r>
            <a:r>
              <a:rPr lang="en-IN" sz="1400" b="1" dirty="0"/>
              <a:t>low-engagement months (Sep–Dec)</a:t>
            </a:r>
            <a:r>
              <a:rPr lang="en-IN" sz="1400" dirty="0"/>
              <a:t>.</a:t>
            </a:r>
          </a:p>
        </p:txBody>
      </p:sp>
      <p:sp>
        <p:nvSpPr>
          <p:cNvPr id="9" name="TextBox 8">
            <a:extLst>
              <a:ext uri="{FF2B5EF4-FFF2-40B4-BE49-F238E27FC236}">
                <a16:creationId xmlns:a16="http://schemas.microsoft.com/office/drawing/2014/main" id="{6DE790C9-F8AA-EB4A-C182-B8E57C10C178}"/>
              </a:ext>
            </a:extLst>
          </p:cNvPr>
          <p:cNvSpPr txBox="1"/>
          <p:nvPr/>
        </p:nvSpPr>
        <p:spPr>
          <a:xfrm>
            <a:off x="252133" y="4145341"/>
            <a:ext cx="11043396" cy="1354217"/>
          </a:xfrm>
          <a:prstGeom prst="rect">
            <a:avLst/>
          </a:prstGeom>
          <a:noFill/>
        </p:spPr>
        <p:txBody>
          <a:bodyPr wrap="square">
            <a:spAutoFit/>
          </a:bodyPr>
          <a:lstStyle/>
          <a:p>
            <a:pPr algn="ctr">
              <a:buNone/>
            </a:pPr>
            <a:r>
              <a:rPr lang="en-US" dirty="0"/>
              <a:t>Goal 3: Improve Customer Feedback Scores</a:t>
            </a:r>
          </a:p>
          <a:p>
            <a:pPr algn="ctr">
              <a:buNone/>
            </a:pPr>
            <a:endParaRPr lang="en-US" dirty="0"/>
          </a:p>
          <a:p>
            <a:pPr>
              <a:buNone/>
            </a:pPr>
            <a:r>
              <a:rPr lang="en-US" sz="1400" b="1" dirty="0"/>
              <a:t>Objective:</a:t>
            </a:r>
            <a:r>
              <a:rPr lang="en-US" sz="1400" dirty="0"/>
              <a:t> Extract actionable insights from customer reviews.</a:t>
            </a:r>
            <a:br>
              <a:rPr lang="en-US" sz="1400" dirty="0"/>
            </a:br>
            <a:r>
              <a:rPr lang="en-US" sz="1400" b="1" dirty="0"/>
              <a:t>Action:  </a:t>
            </a:r>
            <a:r>
              <a:rPr lang="en-US" sz="1400" dirty="0"/>
              <a:t>Analyze recurring </a:t>
            </a:r>
            <a:r>
              <a:rPr lang="en-US" sz="1400" b="1" dirty="0"/>
              <a:t>negative feedback</a:t>
            </a:r>
            <a:r>
              <a:rPr lang="en-US" sz="1400" dirty="0"/>
              <a:t> and implement targeted fixes.</a:t>
            </a:r>
          </a:p>
          <a:p>
            <a:r>
              <a:rPr lang="en-US" sz="1400" dirty="0"/>
              <a:t>               Follow up with dissatisfied users to resolve issues and </a:t>
            </a:r>
            <a:r>
              <a:rPr lang="en-US" sz="1400" b="1" dirty="0"/>
              <a:t>encourage re-rating</a:t>
            </a:r>
            <a:r>
              <a:rPr lang="en-US" sz="1400" dirty="0"/>
              <a:t> toward the </a:t>
            </a:r>
            <a:r>
              <a:rPr lang="en-US" sz="1400" b="1" dirty="0"/>
              <a:t>4.0 score goal</a:t>
            </a:r>
            <a:r>
              <a:rPr lang="en-US" dirty="0"/>
              <a:t>.</a:t>
            </a:r>
          </a:p>
        </p:txBody>
      </p:sp>
    </p:spTree>
    <p:extLst>
      <p:ext uri="{BB962C8B-B14F-4D97-AF65-F5344CB8AC3E}">
        <p14:creationId xmlns:p14="http://schemas.microsoft.com/office/powerpoint/2010/main" val="1198921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415</TotalTime>
  <Words>634</Words>
  <Application>Microsoft Office PowerPoint</Application>
  <PresentationFormat>Widescreen</PresentationFormat>
  <Paragraphs>42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Business Problem  Shop Easy is experiencing low customer engagement and declining conversion rates despite running multiple marketing campaigns. Marketing spend is high, but the return is not improving, and customer feedback is not being analyzed effectively. Project Goals  Improve Conversion Rates: Identify drop-off points and optimize the marketing funnel. Boost Customer Engagement: Find which content performs best and increase interaction. Leverage Customer Feedback: Extract insights from reviews to guide product and service improvements. </vt:lpstr>
      <vt:lpstr>  General Trend: Overall monthly conversion rates decline steadily from Jan (16.5%) to Dec (9.5%).  Lowest Conversion Month: December shows the lowest total conversion across all products (9.5%).  Highest Conversion Month: January leads with the highest total conversion (16.5%).  Most Consistent Product: Baseball Glove holds a steady 22.2% conversion across all months.  Steepest Decline: Cycling Helmet &amp; Surfboard drop from 33.3% in Jan to 11% in Dec.  Flat Performers: Products like Yoga Mat, Climbing Rope, Ice Skates, Kayak, Tennis Racket, Golf Clubs, Fitness Tracker stay  High-Impact Products (Jan–Mar):  Football Helmet peak early (up to 28.6%) then decline to 12.5%.  Stable High Performers: Basketball,Hockey stick ski boots are   monthly—top-tier consistency.  </vt:lpstr>
      <vt:lpstr>Social Media Performance Summary: </vt:lpstr>
      <vt:lpstr>Goals &amp; Actions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SANKEERTHANA TALATHOTI</dc:creator>
  <cp:lastModifiedBy>SANKEERTHANA TALATHOTI</cp:lastModifiedBy>
  <cp:revision>5</cp:revision>
  <dcterms:created xsi:type="dcterms:W3CDTF">2025-11-16T07:03:52Z</dcterms:created>
  <dcterms:modified xsi:type="dcterms:W3CDTF">2025-11-16T14:04:31Z</dcterms:modified>
</cp:coreProperties>
</file>